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A4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2A43"/>
                </a:solidFill>
                <a:latin typeface="Arial"/>
              </a:rPr>
              <a:t>区分別コントロール数（統治・検知・対応を重点拡充）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ベースライン（原フレームワーク＋ギャップ分析）</c:v>
                </c:pt>
              </c:strCache>
            </c:strRef>
          </c:tx>
          <c:spPr>
            <a:solidFill>
              <a:srgbClr val="3E69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GV 統治</c:v>
                  </c:pt>
                  <c:pt idx="1">
                    <c:v>ID 特定</c:v>
                  </c:pt>
                  <c:pt idx="2">
                    <c:v>PR 防御</c:v>
                  </c:pt>
                  <c:pt idx="3">
                    <c:v>DE 検知</c:v>
                  </c:pt>
                  <c:pt idx="4">
                    <c:v>RS 対応</c:v>
                  </c:pt>
                  <c:pt idx="5">
                    <c:v>RC 復旧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8</c:v>
                </c:pt>
                <c:pt idx="2">
                  <c:v>26</c:v>
                </c:pt>
                <c:pt idx="3">
                  <c:v>8</c:v>
                </c:pt>
                <c:pt idx="4">
                  <c:v>6</c:v>
                </c:pt>
                <c:pt idx="5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拡張（19基準による精査で追加）</c:v>
                </c:pt>
              </c:strCache>
            </c:strRef>
          </c:tx>
          <c:spPr>
            <a:solidFill>
              <a:srgbClr val="D98E2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GV 統治</c:v>
                  </c:pt>
                  <c:pt idx="1">
                    <c:v>ID 特定</c:v>
                  </c:pt>
                  <c:pt idx="2">
                    <c:v>PR 防御</c:v>
                  </c:pt>
                  <c:pt idx="3">
                    <c:v>DE 検知</c:v>
                  </c:pt>
                  <c:pt idx="4">
                    <c:v>RS 対応</c:v>
                  </c:pt>
                  <c:pt idx="5">
                    <c:v>RC 復旧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22</c:v>
                </c:pt>
                <c:pt idx="1">
                  <c:v>21</c:v>
                </c:pt>
                <c:pt idx="2">
                  <c:v>48</c:v>
                </c:pt>
                <c:pt idx="3">
                  <c:v>24</c:v>
                </c:pt>
                <c:pt idx="4">
                  <c:v>14</c:v>
                </c:pt>
                <c:pt idx="5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2A4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5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8745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AIセキュリティ＆ガバナンス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統合マスターフレームワーク v0.1（β版）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77240" y="3657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多数のAIセキュリティ文書を、ひとつの実務フレームワークへ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77240" y="4617720"/>
            <a:ext cx="6035040" cy="777240"/>
          </a:xfrm>
          <a:prstGeom prst="roundRect">
            <a:avLst>
              <a:gd name="adj" fmla="val 14118"/>
            </a:avLst>
          </a:prstGeom>
          <a:solidFill>
            <a:srgbClr val="D98E20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05840" y="46177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β版公開のご紹介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2026年7月｜作成: たま（AIとの共同作成・詳細は本資料内で開示）｜GitHubにてβ公開中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背景：AIセキュリティの「文書の乱立」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作成の出発点となった課題認識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5727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この2〜3年で、AIセキュリティの基準・ガイドラインが一斉に登場しました。それぞれに価値がある一方、対象・粒度・観点がバラバラです。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514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68680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対象の違い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1089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LLMだけ（総務省GL）、エージェントだけ（ASD/OWASP ASI）、マネジメント全般（ISO 42001）、高リスクAI（EU AI Act）…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07408" y="2514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636008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粒度の違い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36008" y="31089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経営向けの声明（Five Eyes）から、要件番号つき検証基準（OWASP AISVS 14章）、攻撃TTP集（MITRE ATLAS）まで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74736" y="25146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403336" y="269748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観点の違い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403336" y="3108960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ガバナンス、開発ライフサイクル、脅威、リスクマネジメント、アイデンティティ…同じ話を別の言葉で語っている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4892040"/>
            <a:ext cx="10927080" cy="1234440"/>
          </a:xfrm>
          <a:prstGeom prst="roundRect">
            <a:avLst>
              <a:gd name="adj" fmla="val 5926"/>
            </a:avLst>
          </a:prstGeom>
          <a:solidFill>
            <a:srgbClr val="132A43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14400" y="4892040"/>
            <a:ext cx="10378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D98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現場の悩み：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「結局、うちの組織は何を・どこまでやればいいのか」を判断するために、毎回19の文書を行き来することになる。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365992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作成の意図：多数の文書を「統一」してみたい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個人の実務・学習の中から生まれた試み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6479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ひとつの骨格に統合する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828800" y="217627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NIST CSF 2.0の6機能（GV/ID/PR/DE/RS/RC）を背骨に、19文書の要求事項を重複なく再配置。どの文書のどこに対応するかをマッピングとして保持。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204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331927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AI類型を横断でカバーする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828800" y="373075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従来型ML／生成AI（RAG）／AIエージェント／マルチエージェントの全類型を1つのフレームワークで扱う。類型ごとの適用可否はai-scope属性で判定。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7492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48737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機械可読にする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828800" y="528523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OSCAL（NIST標準のセキュリティ管理策記述形式）で構築。アセスメントツール・自動化パイプラインにそのまま投入できる。人が読む解説はWord文書で併走。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365992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内容①：フレームワークの全体像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6機能 × 37カテゴリ × 207コントロール（v0.1 β版）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8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コントロール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14600" y="1554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8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51460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カテゴリ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1554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8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38912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参照基準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15544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8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6364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AI類型対応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0080" y="274320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7863840" y="2743200"/>
            <a:ext cx="3703320" cy="3566160"/>
          </a:xfrm>
          <a:prstGeom prst="roundRect">
            <a:avLst>
              <a:gd name="adj" fmla="val 2051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13816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設計のポイント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38160" y="329184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NIST CSF 2.0完全整合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統治(GV)を独立機能化し、ガバナンス・法規制カテゴリをGVへ移設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ID体系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AIMF-&lt;区分&gt;-&lt;カテゴリ3文字&gt;-&lt;連番&gt;。原文書ID・旧IDも属性として保持し、改訂を跨いで追跡可能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エージェントAIを最重視</a:t>
            </a:r>
            <a:endParaRPr lang="en-US" sz="125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PR-AGT（エージェント・ツール接続）は最大の10コントロール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365992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内容②：全コントロールに付与した3つの分類軸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評価のスコープ決定・優先順位付けを機械的に行うための属性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210312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7556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control-type：その管理策はAI特有か、既存セキュリティの拡張か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212848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8F0E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33172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4E7A4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AI-Expansion（108件）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AI特有の新設管理策。既存ISMSに対応物なし。例：ガードレール、モデルライフサイクル、エージェントID、キルスイッチ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212848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92240" y="233172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AI-Enhancement（99件）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既存管理策のAI文脈への拡張・強化。既存統制と統合実装が可能。例：閉域化、MFA、SIEM統合、CSIRT拡張、教育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4160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ai-scope：どのAI類型に適用されるか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traditional-ai / generative-ai / ai-agent / multi-agent / all。エージェント未導入の組織は約50件を機械的に対象外にできる。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977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37960" y="41605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status・lineage：出自の区分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480060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原フレームワーク由来（54）か推奨追加（153）か、ベースライン（71）か拡張（136）か。段階適用（ベースライン評価→拡張分を段階導入）を支える。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65992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内容③：参照した19の基準・公的文書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「マッピング対象」8基準＋「参照ソース」11文書。全対応関係をOSCAL属性として保持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719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マッピング対象（ギャップ判定の正式基準）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AI事業者ガイドライン 第1.2版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総務省 AIセキュリティ技術的対策GL 第1.0版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NIST AI RMF 1.0（+生成AIプロファイル）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ISO/IEC 42001:2023（AIMS）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OWASP AISVS v1.0（14章）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CSA AI Controls Matrix v1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EU AI Act（2026年8月 本格適用）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英NCSC/米CISA等 安全なAI開発ガイドライン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303520" cy="4663440"/>
          </a:xfrm>
          <a:prstGeom prst="roundRect">
            <a:avLst>
              <a:gd name="adj" fmla="val 1569"/>
            </a:avLst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17190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参照ソース（コントロール導出・精査に使用）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800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MITRE ATLAS ／ ENISA AI脅威ランドスケープ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ISO/IEC 23894（AIリスクマネジメント）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OWASP LLM Top 10（LLM01〜10）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OWASP Agentic Top 10（ASI01〜10）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ASD等6機関 エージェントAI導入ガイダンス（2026年5月）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Five Eyes 共同声明（2026年6月22日）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NIST SP 800-63-4（デジタルアイデンティティ）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CIS Controls v8.1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SANS AI成熟度モデル ／ デジタル庁 生成AI利用GL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5992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内容④：フレームワークのハイライト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最新の公的文書を実務コントロールへ翻訳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EEF3F8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エージェントAI統制の体系化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ASD等6機関ガイダンスの5リスク（特権/設計・構成/行動/構造/説明責任）とOWASP ASI01〜10を、最小エージェンシー・ツールACL・計画検証・エージェントID・メモリ検疫・キルスイッチ等の実装可能なコントロールへ展開。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7FAFC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82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検知をSOC能力へ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537960" y="23774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LLM/エージェント脅威の検知要件化に加え、SIEM統合・ATLAS検知カバレッジ管理・脅威ハンティング・検知有効性テストを新設。個別機能から運用可能なSOC能力へ。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9319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EEF3F8"/>
          </a:solidFill>
          <a:ln/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160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既存セキュリティのAI時代対応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914400" y="4709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Five Eyes声明・CIS v8.1・NIST SP 800-63-4を反映し、フィッシング耐性MFA、ディープフェイク詐欺の帯域外確認、パッチSLA短縮、アタックサーフェス削減を体系化。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63640" y="393192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F7FAFC"/>
          </a:solidFill>
          <a:ln/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1605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32320" y="4160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規制対応の組み込み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537960" y="4709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EU AI Act（リスク分類・第50条コンテンツ表示・第73条報告）、ISO 42001認証要件（影響評価・内部監査）、個情法の漏えい報告をコントロールとして実装。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11365992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利用方法：4ステップの評価フロー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コンサルティング・自己評価・自動化パイプラインの共通手順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847088"/>
            <a:ext cx="502920" cy="502920"/>
          </a:xfrm>
          <a:prstGeom prst="ellipse">
            <a:avLst/>
          </a:prstGeom>
          <a:solidFill>
            <a:srgbClr val="D98E2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01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スコープ決定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ai-scopeで対象AI類型に絞り込み。エージェント未導入なら約50件を対象外に。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93008" y="164592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721608" y="1847088"/>
            <a:ext cx="502920" cy="502920"/>
          </a:xfrm>
          <a:prstGeom prst="ellipse">
            <a:avLst/>
          </a:prstGeom>
          <a:solidFill>
            <a:srgbClr val="D98E20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21608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61688" y="1901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基準の重み付け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21608" y="25146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必須基準（EU域内→AI Act、認証→ISO 42001等）のマッピングを持つコントロールを必須化。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45936" y="164592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574536" y="1847088"/>
            <a:ext cx="502920" cy="502920"/>
          </a:xfrm>
          <a:prstGeom prst="ellipse">
            <a:avLst/>
          </a:prstGeom>
          <a:solidFill>
            <a:srgbClr val="D98E20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74536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14616" y="1901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段階評価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74536" y="25146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ベースライン71件を先行評価→拡張分はユースケースのクリティカリティに応じ段階適用。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98864" y="1645920"/>
            <a:ext cx="2606040" cy="2651760"/>
          </a:xfrm>
          <a:prstGeom prst="roundRect">
            <a:avLst>
              <a:gd name="adj" fmla="val 2807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427464" y="1847088"/>
            <a:ext cx="502920" cy="502920"/>
          </a:xfrm>
          <a:prstGeom prst="ellipse">
            <a:avLst/>
          </a:prstGeom>
          <a:solidFill>
            <a:srgbClr val="D98E20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427464" y="1847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67544" y="19019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性質別の報告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427464" y="25146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control-typeで未実装を区別：Enhancement=既存運用の適用漏れ／Expansion=AI固有統制の未整備。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927080" cy="1554480"/>
          </a:xfrm>
          <a:prstGeom prst="roundRect">
            <a:avLst>
              <a:gd name="adj" fmla="val 4706"/>
            </a:avLst>
          </a:prstGeom>
          <a:solidFill>
            <a:srgbClr val="132A4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14400" y="4773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機械可読の利点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138928"/>
            <a:ext cx="10378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OSCAL JSON/YAMLはjqの1行で「AI-Expansionのみ」「マルチエージェント適用のみ」「EU AI Act対応のみ」等を抽出可能。OSCAL Profileで業種別カタログに加工でき、評価自動化パイプラインの評価基準としてそのまま投入できます。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65992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共有する成果物一式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各ファイルの位置づけと読み方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76479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OSCALカタログ（JSON / YAML）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0" y="217627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207コントロール本体。マッピング・分類軸・識別子の全属性を含む機械可読データ。プログラム利用はJSON、目視確認はYAMLが便利。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F7FAFC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204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331927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新旧ID対応表（CSV）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828800" y="373075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207行×10列。新ID・旧ID・原文書ID・区分・カテゴリ・control-type等の一覧。Excelで開いて眺めるならまずこれ。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1092708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/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7492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828800" y="4873752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解説文書・利用ガイド（Word・23ページ）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828800" y="528523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構造・分類軸の定義・19基準の要点・拡張精査の設計解説・jqクエリ例・全コントロール一覧（付録）。最初に読むならこれ。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365992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作成プロセスの開示：AIとの共同作成です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透明性のために、役割分担を明示します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人間（作成者）が担った部分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課題設定と統一方針（CSF 2.0バックボーン等）の決定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原フレームワーク（54対策）の設計と執筆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参照基準の選定、拡張方針・ID体系の指示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成果物のレビューと採否判断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03520" cy="3108960"/>
          </a:xfrm>
          <a:prstGeom prst="roundRect">
            <a:avLst>
              <a:gd name="adj" fmla="val 2353"/>
            </a:avLst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8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AI（Claude）が担った部分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19基準との突合・ギャップ分析・マッピング起案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拡張コントロール（136件）のドラフト作成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最新文書（ASD・Five Eyes等）のWeb検索による確認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OSCALデータ・CSV・解説文書の生成と検証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02920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493776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誤りや偏りが含まれ得る前提でご覧ください。</a:t>
            </a:r>
            <a:endParaRPr lang="en-US" sz="16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作成プロセスの透明性のために役割分担を開示しています。ご利用の中でお気づきの点があれば、GitHubのIssueからお知らせください。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365992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β版としての留意点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ご利用にあたって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7647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破壊的変更の可能性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16712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フィードバックを踏まえ、コントロールの追加・削除・ID変更があり得ます。バージョンを固定して参照してください。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07408" y="16002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636008" y="17647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マッピングの粒度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636008" y="216712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対応関係は章・カテゴリ・条文レベルです。要件番号レベルの確認は各基準の原文をご参照ください。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74736" y="16002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03336" y="17647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法規制対応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03336" y="216712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EU AI Act等への準拠を保証するものではありません。原文・専門家の助言に基づき判断してください。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68680" y="3593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スコープ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68680" y="399592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セキュリティ・ガバナンスに焦点を置き、公平性・品質全般は対象外としています。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407408" y="34290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EEF3F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36008" y="3593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基準側の制約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36008" y="399592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総務省ガイドライン第1.0版はAIエージェント対象外のため、該当コントロールへの同基準のマッピングはありません。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74736" y="34290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7FAF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403336" y="35935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699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フィードバック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03336" y="3995928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3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お気づきの点があれば、GitHubのIssueから気軽にお知らせください。観点は問いません。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440680"/>
            <a:ext cx="10927080" cy="868680"/>
          </a:xfrm>
          <a:prstGeom prst="roundRect">
            <a:avLst>
              <a:gd name="adj" fmla="val 8421"/>
            </a:avLst>
          </a:prstGeom>
          <a:solidFill>
            <a:srgbClr val="132A4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14400" y="5440680"/>
            <a:ext cx="10378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連絡方法：GitHubリポジトリのIssueへどうぞ。コントロールID（例：AIMF-PR-AGT-004）を添えていただけると助かります。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/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65992" y="64190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5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058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103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β版として、公開します。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77240" y="31546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D6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乱立するAIセキュリティ文書をひとつに束ねる試みの、現時点の到達点です。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D6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まずは眺めて、使えそうな部分から試してみてください。</a:t>
            </a:r>
            <a:endParaRPr lang="en-US" sz="17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C9D6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気づいた点があれば、GitHubリポジトリのIssueから教えていただけると嬉しいです。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77240" y="484632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1E3A57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00584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GitHubでβ公開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5376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v0.1.0-beta（現在）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484632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1E3A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66344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気づいた点はIssueへ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63440" y="5376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随時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92440" y="484632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1E3A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321040" y="4983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8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改訂リリース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321040" y="5376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v0.2 → 正式版v1.0へ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ご質問もお気軽にどうぞ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2026-07-17T04:08:03Z</dcterms:created>
  <dcterms:modified xsi:type="dcterms:W3CDTF">2026-07-17T04:08:03Z</dcterms:modified>
</cp:coreProperties>
</file>